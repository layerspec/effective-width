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微軟正黑體"/>
              </a:defRPr>
            </a:pPr>
            <a:r>
              <a:rPr sz="1200" b="0" i="0" u="none" strike="noStrike">
                <a:solidFill>
                  <a:srgbClr val="333333"/>
                </a:solidFill>
                <a:latin typeface="微軟正黑體"/>
              </a:rPr>
              <a:t>Garg 等人 2019：先升後崩（駝峰）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Garg 2019</c:v>
                </c:pt>
              </c:strCache>
            </c:strRef>
          </c:tx>
          <c:spPr>
            <a:solidFill>
              <a:srgbClr val="B03A2E"/>
            </a:solidFill>
            <a:ln w="31750" cap="flat">
              <a:solidFill>
                <a:srgbClr val="B03A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B03A2E"/>
              </a:solidFill>
              <a:ln w="9525" cap="flat">
                <a:solidFill>
                  <a:srgbClr val="B03A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0.2</c:v>
                </c:pt>
                <c:pt idx="1">
                  <c:v>0.45</c:v>
                </c:pt>
                <c:pt idx="2">
                  <c:v>0.7</c:v>
                </c:pt>
                <c:pt idx="3">
                  <c:v>0.85</c:v>
                </c:pt>
                <c:pt idx="4">
                  <c:v>0.9</c:v>
                </c:pt>
                <c:pt idx="5">
                  <c:v>0.9</c:v>
                </c:pt>
                <c:pt idx="6">
                  <c:v>0.85</c:v>
                </c:pt>
                <c:pt idx="7">
                  <c:v>0.6</c:v>
                </c:pt>
                <c:pt idx="8">
                  <c:v>0.3</c:v>
                </c:pt>
                <c:pt idx="9">
                  <c:v>0.15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微軟正黑體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微軟正黑體"/>
                  </a:rPr>
                  <a:t>層數（淺 → 深）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微軟正黑體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微軟正黑體"/>
                  </a:rPr>
                  <a:t>寬度使用率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微軟正黑體"/>
              </a:defRPr>
            </a:pPr>
            <a:r>
              <a:rPr sz="1200" b="0" i="0" u="none" strike="noStrike">
                <a:solidFill>
                  <a:srgbClr val="333333"/>
                </a:solidFill>
                <a:latin typeface="微軟正黑體"/>
              </a:rPr>
              <a:t>Elmoznino &amp; Bonner 2024：一路上升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Elmoznino 2024</c:v>
                </c:pt>
              </c:strCache>
            </c:strRef>
          </c:tx>
          <c:spPr>
            <a:solidFill>
              <a:srgbClr val="2E7D32"/>
            </a:solidFill>
            <a:ln w="31750" cap="flat">
              <a:solidFill>
                <a:srgbClr val="2E7D3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E7D32"/>
              </a:solidFill>
              <a:ln w="9525" cap="flat">
                <a:solidFill>
                  <a:srgbClr val="2E7D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</c:v>
                </c:pt>
                <c:pt idx="1">
                  <c:v>0.15</c:v>
                </c:pt>
                <c:pt idx="2">
                  <c:v>0.22</c:v>
                </c:pt>
                <c:pt idx="3">
                  <c:v>0.28</c:v>
                </c:pt>
                <c:pt idx="4">
                  <c:v>0.35</c:v>
                </c:pt>
                <c:pt idx="5">
                  <c:v>0.42</c:v>
                </c:pt>
                <c:pt idx="6">
                  <c:v>0.48</c:v>
                </c:pt>
                <c:pt idx="7">
                  <c:v>0.55</c:v>
                </c:pt>
                <c:pt idx="8">
                  <c:v>0.62</c:v>
                </c:pt>
                <c:pt idx="9">
                  <c:v>0.7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微軟正黑體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微軟正黑體"/>
                  </a:rPr>
                  <a:t>層數（淺 → 深）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微軟正黑體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微軟正黑體"/>
                  </a:rPr>
                  <a:t>寬度使用率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除以名目寬度 C</c:v>
                </c:pt>
              </c:strCache>
            </c:strRef>
          </c:tx>
          <c:spPr>
            <a:solidFill>
              <a:srgbClr val="B03A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64</c:v>
                  </c:pt>
                  <c:pt idx="1">
                    <c:v>128</c:v>
                  </c:pt>
                  <c:pt idx="2">
                    <c:v>256</c:v>
                  </c:pt>
                  <c:pt idx="3">
                    <c:v>512</c:v>
                  </c:pt>
                  <c:pt idx="4">
                    <c:v>1024</c:v>
                  </c:pt>
                  <c:pt idx="5">
                    <c:v>2048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0.23</c:v>
                </c:pt>
                <c:pt idx="1">
                  <c:v>0.34</c:v>
                </c:pt>
                <c:pt idx="2">
                  <c:v>0.4</c:v>
                </c:pt>
                <c:pt idx="3">
                  <c:v>0.37</c:v>
                </c:pt>
                <c:pt idx="4">
                  <c:v>0.11</c:v>
                </c:pt>
                <c:pt idx="5">
                  <c:v>0.13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除以可達秩 r_max</c:v>
                </c:pt>
              </c:strCache>
            </c:strRef>
          </c:tx>
          <c:spPr>
            <a:solidFill>
              <a:srgbClr val="1F5C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64</c:v>
                  </c:pt>
                  <c:pt idx="1">
                    <c:v>128</c:v>
                  </c:pt>
                  <c:pt idx="2">
                    <c:v>256</c:v>
                  </c:pt>
                  <c:pt idx="3">
                    <c:v>512</c:v>
                  </c:pt>
                  <c:pt idx="4">
                    <c:v>1024</c:v>
                  </c:pt>
                  <c:pt idx="5">
                    <c:v>2048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0.23</c:v>
                </c:pt>
                <c:pt idx="1">
                  <c:v>0.34</c:v>
                </c:pt>
                <c:pt idx="2">
                  <c:v>0.42</c:v>
                </c:pt>
                <c:pt idx="3">
                  <c:v>0.42</c:v>
                </c:pt>
                <c:pt idx="4">
                  <c:v>0.43</c:v>
                </c:pt>
                <c:pt idx="5">
                  <c:v>0.47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微軟正黑體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微軟正黑體"/>
                  </a:rPr>
                  <a:t>該層的通道數 C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微軟正黑體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微軟正黑體"/>
                  </a:rPr>
                  <a:t>使用率（中位數）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微軟正黑體"/>
              <a:cs typeface="微軟正黑體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cli/Downloads/icml-claude/背景圖片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828800" y="1325880"/>
            <a:ext cx="5486400" cy="0"/>
          </a:xfrm>
          <a:prstGeom prst="line">
            <a:avLst/>
          </a:prstGeom>
          <a:noFill/>
          <a:ln w="19050">
            <a:solidFill>
              <a:srgbClr val="1F5C9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卷積神經網路的「寬度」到底用掉了多少？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論文研究進度說明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Much of a Convolutional Layer's Width Is Actually Used?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828800" y="3154680"/>
            <a:ext cx="5486400" cy="0"/>
          </a:xfrm>
          <a:prstGeom prst="line">
            <a:avLst/>
          </a:prstGeom>
          <a:noFill/>
          <a:ln w="19050">
            <a:solidFill>
              <a:srgbClr val="1F5C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報告人：李政崇　</a:t>
            </a:r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│</a:t>
            </a:r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　綜合研究所</a:t>
            </a:r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高壓研究室　</a:t>
            </a:r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│</a:t>
            </a:r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　</a:t>
            </a:r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115 </a:t>
            </a:r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年</a:t>
            </a:r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9 </a:t>
            </a:r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月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投稿目標：</a:t>
            </a:r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IEEE </a:t>
            </a:r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期刊（不投會議）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cli/Downloads/icml-claude/背景圖片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43891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大綱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886968"/>
            <a:ext cx="1097280" cy="0"/>
          </a:xfrm>
          <a:prstGeom prst="line">
            <a:avLst/>
          </a:prstGeom>
          <a:noFill/>
          <a:ln w="38100">
            <a:solidFill>
              <a:srgbClr val="1F5C9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106424"/>
            <a:ext cx="274320" cy="274320"/>
          </a:xfrm>
          <a:prstGeom prst="ellipse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09728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102412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這篇論文在問什麼？（一句話與比喻）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68680" y="1472184"/>
            <a:ext cx="73152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563624"/>
            <a:ext cx="274320" cy="274320"/>
          </a:xfrm>
          <a:prstGeom prst="ellipse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55448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8680" y="148132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為什麼值得做：跟台電的</a:t>
            </a:r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AI </a:t>
            </a:r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應用有什麼關係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68680" y="1929384"/>
            <a:ext cx="73152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020824"/>
            <a:ext cx="274320" cy="274320"/>
          </a:xfrm>
          <a:prstGeom prst="ellipse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201168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68680" y="193852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我們怎麼量、量了多少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868680" y="2386584"/>
            <a:ext cx="73152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" y="2478024"/>
            <a:ext cx="274320" cy="274320"/>
          </a:xfrm>
          <a:prstGeom prst="ellipse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246888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8680" y="239572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第一輪的三個發現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868680" y="2843784"/>
            <a:ext cx="73152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2935224"/>
            <a:ext cx="274320" cy="274320"/>
          </a:xfrm>
          <a:prstGeom prst="ellipse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292608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68680" y="285292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誠實的自我審查：哪些說法站不住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868680" y="3300984"/>
            <a:ext cx="73152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" y="3392424"/>
            <a:ext cx="274320" cy="274320"/>
          </a:xfrm>
          <a:prstGeom prst="ellipse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338328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68680" y="331012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文獻查證與論文重新定位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868680" y="3758184"/>
            <a:ext cx="73152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200" y="3849624"/>
            <a:ext cx="274320" cy="274320"/>
          </a:xfrm>
          <a:prstGeom prst="ellipse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384048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68680" y="376732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下一步、成本與時程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cli/Downloads/icml-claude/背景圖片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43891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這篇論文在問什麼？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886968"/>
            <a:ext cx="1097280" cy="0"/>
          </a:xfrm>
          <a:prstGeom prst="line">
            <a:avLst/>
          </a:prstGeom>
          <a:noFill/>
          <a:ln w="38100">
            <a:solidFill>
              <a:srgbClr val="1F5C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一個影像辨識的神經網路，每一層都有固定數量的「通道」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——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可以想成一條公路的車道數。設計者通常直接抄現成架構，或用大量算力搜尋出來。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1828800"/>
            <a:ext cx="7498080" cy="1481328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43000" y="1906524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5DA9E9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31720" y="1906524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5DA9E9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20440" y="1906524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5DA9E9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1906524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5DA9E9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97880" y="1906524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5DA9E9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086600" y="1906524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5DA9E9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4400" y="2048256"/>
            <a:ext cx="73152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1600200" y="2080260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F4B942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88920" y="2080260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F4B942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977640" y="2080260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F4B942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166360" y="2080260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F4B942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55080" y="2080260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F4B942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543800" y="2080260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F4B942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14400" y="2221992"/>
            <a:ext cx="73152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1143000" y="2253996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5DA9E9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331720" y="2253996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5DA9E9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520440" y="2253996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5DA9E9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09160" y="2253996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5DA9E9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897880" y="2253996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5DA9E9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086600" y="2253996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5DA9E9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14400" y="2395728"/>
            <a:ext cx="73152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dash"/>
          </a:ln>
        </p:spPr>
      </p:sp>
      <p:sp>
        <p:nvSpPr>
          <p:cNvPr id="29" name="Shape 26"/>
          <p:cNvSpPr/>
          <p:nvPr/>
        </p:nvSpPr>
        <p:spPr>
          <a:xfrm>
            <a:off x="1600200" y="2427732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F4B942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788920" y="2427732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F4B942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977640" y="2427732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F4B942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166360" y="2427732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F4B942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355080" y="2427732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F4B942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543800" y="2427732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F4B942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14400" y="2569464"/>
            <a:ext cx="73152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dash"/>
          </a:ln>
        </p:spPr>
      </p:sp>
      <p:sp>
        <p:nvSpPr>
          <p:cNvPr id="36" name="Shape 33"/>
          <p:cNvSpPr/>
          <p:nvPr/>
        </p:nvSpPr>
        <p:spPr>
          <a:xfrm>
            <a:off x="914400" y="2743200"/>
            <a:ext cx="73152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dash"/>
          </a:ln>
        </p:spPr>
      </p:sp>
      <p:sp>
        <p:nvSpPr>
          <p:cNvPr id="37" name="Shape 34"/>
          <p:cNvSpPr/>
          <p:nvPr/>
        </p:nvSpPr>
        <p:spPr>
          <a:xfrm>
            <a:off x="914400" y="2916936"/>
            <a:ext cx="73152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dash"/>
          </a:ln>
        </p:spPr>
      </p:sp>
      <p:sp>
        <p:nvSpPr>
          <p:cNvPr id="38" name="Shape 35"/>
          <p:cNvSpPr/>
          <p:nvPr/>
        </p:nvSpPr>
        <p:spPr>
          <a:xfrm>
            <a:off x="914400" y="3090672"/>
            <a:ext cx="73152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dash"/>
          </a:ln>
        </p:spPr>
      </p:sp>
      <p:sp>
        <p:nvSpPr>
          <p:cNvPr id="39" name="Text 36"/>
          <p:cNvSpPr/>
          <p:nvPr/>
        </p:nvSpPr>
        <p:spPr>
          <a:xfrm>
            <a:off x="6309360" y="266090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名目寬度</a:t>
            </a:r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 = 8 </a:t>
            </a:r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車道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457200" y="33375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我們逐層量的是：實際「在跑車」的車道有幾條（有效維度</a:t>
            </a:r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F5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k*</a:t>
            </a:r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），再除以總車道數</a:t>
            </a:r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F5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</a:t>
            </a:r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。這個比例就是「寬度使用率」</a:t>
            </a:r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F5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k*/C</a:t>
            </a:r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。</a:t>
            </a:r>
            <a:endParaRPr lang="en-US" sz="1350" dirty="0"/>
          </a:p>
        </p:txBody>
      </p:sp>
      <p:sp>
        <p:nvSpPr>
          <p:cNvPr id="41" name="Shape 38"/>
          <p:cNvSpPr/>
          <p:nvPr/>
        </p:nvSpPr>
        <p:spPr>
          <a:xfrm>
            <a:off x="457200" y="4096512"/>
            <a:ext cx="8229600" cy="45720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94360" y="4096512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一句話：把「每一層用掉多少寬度」量準，是日後模型瘦身與設計寬度的前提。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cli/Downloads/icml-claude/背景圖片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43891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為什麼值得做：跟台電有什麼關係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886968"/>
            <a:ext cx="1097280" cy="0"/>
          </a:xfrm>
          <a:prstGeom prst="line">
            <a:avLst/>
          </a:prstGeom>
          <a:noFill/>
          <a:ln w="38100">
            <a:solidFill>
              <a:srgbClr val="1F5C9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2651760" cy="146304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0972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寬度</a:t>
            </a:r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算力</a:t>
            </a:r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成本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481328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模型要進現場設備（監測箱、邊緣裝置），每一層的通道數直接決定記憶體與運算量。用不到的寬度是白付的錢。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46120" y="1005840"/>
            <a:ext cx="2651760" cy="146304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83280" y="10972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我們自己就在用卷積網路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383280" y="1481328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局部放電（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PD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）圖譜辨識、設備影像巡檢都是同一類模型。「該給多寬」目前靠經驗與試誤。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035040" y="1005840"/>
            <a:ext cx="2651760" cy="146304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72200" y="10972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瘦身之前要先會量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172200" y="1481328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模型剪枝（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pruning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）現有方法都要先「給定」目標壓縮比；若能量出每層真正用掉多少，壓縮比就有依據。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這篇論文不做新模型，做的是「量尺」：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57200" y="2944368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把兩篇文獻互相矛盾的量測放到同一批模型、同一批層上重做，找出矛盾來自哪裡</a:t>
            </a:r>
            <a:endParaRPr lang="en-US" sz="130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補上文獻沒量過的架構（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ResNet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、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ConvNeXt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）與沒做過的對照（未訓練的同架構）</a:t>
            </a:r>
            <a:endParaRPr lang="en-US" sz="130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找出三個會讓量測失真的陷阱，並提出修正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——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這是投稿的主軸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" y="40690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定位：方法論／量測協定的論文，成果可直接回饋到模型瘦身與邊緣部署。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cli/Downloads/icml-claude/背景圖片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43891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背景：現在的寬度是怎麼決定的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886968"/>
            <a:ext cx="1097280" cy="0"/>
          </a:xfrm>
          <a:prstGeom prst="line">
            <a:avLst/>
          </a:prstGeom>
          <a:noFill/>
          <a:ln w="38100">
            <a:solidFill>
              <a:srgbClr val="1F5C99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017520"/>
                <a:gridCol w="34747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怎麼做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問題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抄現成架構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直接沿用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 VGG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／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ResNet 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發表時的通道數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那是別人為別的任務調的，未必適合自己的問題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自動搜尋（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NAS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）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給定算力預算，讓程式搜出一組寬度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成本可達上千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 GPU-hour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；答案是預算的函數，不是問題的函數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先做大再剪枝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訓練大模型，再依「目標壓縮比」剪掉通道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壓縮比要人先給；剪多少才對，方法本身不知道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共同點：沒有一個方法回答「這一層實際上用了多少寬度」。文獻裡問過這個問題的只有兩篇，而且答案互相矛盾。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" y="40690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先描述（量得準），再處方（該給多寬）。這篇做前者。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cli/Downloads/icml-claude/背景圖片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43891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文獻的矛盾：同一個問題，兩種答案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886968"/>
            <a:ext cx="1097280" cy="0"/>
          </a:xfrm>
          <a:prstGeom prst="line">
            <a:avLst/>
          </a:prstGeom>
          <a:noFill/>
          <a:ln w="38100">
            <a:solidFill>
              <a:srgbClr val="1F5C99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457200" y="1005840"/>
          <a:ext cx="393192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754880" y="1005840"/>
          <a:ext cx="393192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 3"/>
          <p:cNvSpPr/>
          <p:nvPr/>
        </p:nvSpPr>
        <p:spPr>
          <a:xfrm>
            <a:off x="457200" y="3127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（示意圖，非實際數據）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457200" y="336499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兩篇用的「維度」定義不同、估計方式不同（一個逐位置取樣、一個先整張圖平均）、資料集與類別數也不同</a:t>
            </a:r>
            <a:endParaRPr lang="en-US" sz="120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沒有人把這些因素拆開來看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——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所以連「它們是否真的矛盾」都不知道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594360" y="41148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我們的切入點：在同一批模型、同一批層上，把兩種算法一起算，看差異來自哪裡。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cli/Downloads/icml-claude/背景圖片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43891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我們怎麼量：四個步驟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886968"/>
            <a:ext cx="1097280" cy="0"/>
          </a:xfrm>
          <a:prstGeom prst="line">
            <a:avLst/>
          </a:prstGeom>
          <a:noFill/>
          <a:ln w="38100">
            <a:solidFill>
              <a:srgbClr val="1F5C9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20240" cy="173736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11556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</a:t>
            </a:r>
            <a:pPr indent="0" marL="0">
              <a:buNone/>
            </a:pPr>
            <a:r>
              <a:rPr lang="en-US" sz="14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餵圖片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1481328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把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ImageNet 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驗證集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5 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萬張圖片送進已訓練好的公開模型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359152" y="16916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5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▶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542032" y="1051560"/>
            <a:ext cx="1920240" cy="173736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33472" y="111556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</a:t>
            </a:r>
            <a:pPr indent="0" marL="0">
              <a:buNone/>
            </a:pPr>
            <a:r>
              <a:rPr lang="en-US" sz="14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記錄每一層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633472" y="1481328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在每個卷積層出口記下「激活值」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——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該層對每張圖、每個位置的輸出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443984" y="16916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5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▶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26864" y="1051560"/>
            <a:ext cx="1920240" cy="173736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18304" y="111556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</a:t>
            </a:r>
            <a:pPr indent="0" marL="0">
              <a:buNone/>
            </a:pPr>
            <a:r>
              <a:rPr lang="en-US" sz="14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算主成分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718304" y="1481328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對各層通道做主成分分析（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PCA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），看變異集中在幾個方向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528816" y="16916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5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711696" y="1051560"/>
            <a:ext cx="1920240" cy="173736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03136" y="111556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</a:t>
            </a:r>
            <a:pPr indent="0" marL="0">
              <a:buNone/>
            </a:pPr>
            <a:r>
              <a:rPr lang="en-US" sz="14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除以寬度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803136" y="1481328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達到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95% 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變異需要的成分數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k*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，除以通道數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，得到使用率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k*/C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兩個對照，文獻沒做過：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57200" y="329184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同一個架構、未訓練（隨機初始化）的版本也量一次：分開「學到的結構」和「架構本身就有的結構」</a:t>
            </a:r>
            <a:endParaRPr lang="en-US" sz="125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每一層同時用兩種估計方式（逐位置取樣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vs 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整張圖先平均）：直接檢驗文獻矛盾是不是估計方式造成的</a:t>
            </a:r>
            <a:endParaRPr lang="en-US" sz="125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樣本數紀律：樣本數不到通道數的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50 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倍的層一律不報告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——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樣本太少會憑空造出「低維」假象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cli/Downloads/icml-claude/背景圖片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43891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第一輪量測：規模與成本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886968"/>
            <a:ext cx="1097280" cy="0"/>
          </a:xfrm>
          <a:prstGeom prst="line">
            <a:avLst/>
          </a:prstGeom>
          <a:noFill/>
          <a:ln w="38100">
            <a:solidFill>
              <a:srgbClr val="1F5C9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20240" cy="114300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12471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5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+ 2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種架構（</a:t>
            </a:r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VGG-16</a:t>
            </a:r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、</a:t>
            </a:r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ResNet-18/50</a:t>
            </a:r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、</a:t>
            </a:r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ConvNeXt-T</a:t>
            </a:r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）＋</a:t>
            </a:r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2 </a:t>
            </a:r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個未訓練對照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560320" y="1051560"/>
            <a:ext cx="1920240" cy="114300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60320" y="112471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5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108 </a:t>
            </a:r>
            <a:pPr algn="ctr" indent="0" marL="0">
              <a:buNone/>
            </a:pPr>
            <a:r>
              <a:rPr lang="en-US" sz="26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層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2651760" y="1691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通過樣本數門檻的卷積層，每層都有完整的特徵值頻譜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663440" y="1051560"/>
            <a:ext cx="1920240" cy="114300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63440" y="112471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5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50,000 </a:t>
            </a:r>
            <a:pPr algn="ctr" indent="0" marL="0">
              <a:buNone/>
            </a:pPr>
            <a:r>
              <a:rPr lang="en-US" sz="26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張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754880" y="1691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ImageNet </a:t>
            </a:r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驗證集全部圖片，每層每張圖取</a:t>
            </a:r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16 </a:t>
            </a:r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個位置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766560" y="1051560"/>
            <a:ext cx="1920240" cy="114300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0" y="112471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US$ 0.90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858000" y="1691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租用雲端</a:t>
            </a:r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GPU </a:t>
            </a:r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一趟的總花費（不購置硬體）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24688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量測管線自己寫，含單元測試；每一個數字都可由腳本重算（可重現性是投稿的基本要求）</a:t>
            </a:r>
            <a:endParaRPr lang="en-US" sz="130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分析計畫在看到資料之前就先寫好（預先登記），之後所有偏離都留紀錄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——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避免「看到結果才挑說法」</a:t>
            </a:r>
            <a:endParaRPr lang="en-US" sz="130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原始特徵值全部存檔，日後換指標不必重跑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40690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量測本身近乎免費；成本在分析與寫作，不在算力。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cli/Downloads/icml-claude/背景圖片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43891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第一輪結果：四種架構的逐層使用率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886968"/>
            <a:ext cx="1097280" cy="0"/>
          </a:xfrm>
          <a:prstGeom prst="line">
            <a:avLst/>
          </a:prstGeom>
          <a:noFill/>
          <a:ln w="38100">
            <a:solidFill>
              <a:srgbClr val="1F5C99"/>
            </a:solidFill>
            <a:prstDash val="solid"/>
          </a:ln>
        </p:spPr>
      </p:sp>
      <p:pic>
        <p:nvPicPr>
          <p:cNvPr id="6" name="Image 1" descr="/Users/ccli/Downloads/effective-width-claude/results/figures/fig1_pro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87552"/>
            <a:ext cx="4160520" cy="35204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46320" y="100584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橫軸：層的相對深度（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 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淺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1 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深）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縱軸：寬度使用率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k*/C
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藍：訓練後　紅：未訓練（隨機初始化）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846320" y="196596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沒有一個架構接近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1.0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：訓練後的網路普遍只用到名目寬度的四到六成</a:t>
            </a:r>
            <a:endParaRPr lang="en-US" sz="120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ResNet-50 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特別低、而且鋸齒狀劇烈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——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這後來被證明是量法的問題，不是網路的問題（下一頁）</a:t>
            </a:r>
            <a:endParaRPr lang="en-US" sz="120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訓練後（藍）與未訓練（紅）的曲線可以分得開：訓練確實留下了可量的痕跡</a:t>
            </a:r>
            <a:endParaRPr lang="en-US" sz="120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曲線的「形狀」（駝峰或上升）在第一輪被過度解讀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——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後面會誠實說明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cli/Downloads/icml-claude/背景圖片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43891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發現一：分母的陷阱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886968"/>
            <a:ext cx="1097280" cy="0"/>
          </a:xfrm>
          <a:prstGeom prst="line">
            <a:avLst/>
          </a:prstGeom>
          <a:noFill/>
          <a:ln w="38100">
            <a:solidFill>
              <a:srgbClr val="1F5C99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457200" y="1005840"/>
          <a:ext cx="42062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4846320" y="10058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ResNet-50 </a:t>
            </a:r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看起來特別低，因為</a:t>
            </a:r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20/53 </a:t>
            </a:r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層是「</a:t>
            </a:r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1×1 </a:t>
            </a:r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擴張層」：輸入只有</a:t>
            </a:r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C/4 </a:t>
            </a:r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個通道，輸出卻有</a:t>
            </a:r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 </a:t>
            </a:r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個。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846320" y="169164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線性代數上，這種層的輸出秩最多只能到輸入通道數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——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使用率上限就是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0.25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，跟網路學到什麼無關</a:t>
            </a:r>
            <a:endParaRPr lang="en-US" sz="115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拿名目寬度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 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當分母，等於責怪一條四線道公路「為什麼沒跑滿八線」</a:t>
            </a:r>
            <a:endParaRPr lang="en-US" sz="115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改用該層「可達到的秩」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r_max 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當分母：最寬的兩群層從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0.11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、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0.13 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回到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0.43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、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0.47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，整條曲線變平</a:t>
            </a:r>
            <a:endParaRPr lang="en-US" sz="115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受限層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vs 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不受限層：用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 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比較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 = 1.4×10⁻⁹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（看似兩群）；用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r_max 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比較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 = 0.49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（差異消失）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94360" y="40690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「寬層只用一成寬度」是分母的假象，已撤回；修正後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ResNet-50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與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VGG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、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ResNet-18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同級。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cli/Downloads/icml-claude/背景圖片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43891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發現二：「先平均再量」會一致地把數字壓低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886968"/>
            <a:ext cx="1097280" cy="0"/>
          </a:xfrm>
          <a:prstGeom prst="line">
            <a:avLst/>
          </a:prstGeom>
          <a:noFill/>
          <a:ln w="38100">
            <a:solidFill>
              <a:srgbClr val="1F5C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文獻裡數字偏低的那一篇（</a:t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Elmoznino &amp; Bonner</a:t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）是把整張圖的特徵先平均成一個點再量；我們兩種方式在同一層上並排算：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57200" y="1783080"/>
            <a:ext cx="2468880" cy="114300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8562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5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108 / 108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48640" y="2423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層：先平均的估計值全部比逐位置取樣低，無一例外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37560" y="1783080"/>
            <a:ext cx="2468880" cy="114300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37560" y="18562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水準差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3429000" y="2423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平均把空間變異抹掉，整條曲線往下平移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17920" y="1783080"/>
            <a:ext cx="2468880" cy="114300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0" y="18562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6666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不是形狀差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309360" y="2423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「平均改變了曲線形狀」四個架構都不顯著（</a:t>
            </a:r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 0.24–0.87</a:t>
            </a:r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）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7200" y="3063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這解釋了為什麼那篇文獻的絕對數字偏低，但不能拿來解釋文獻之間「形狀」的矛盾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——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第一輪曾這樣寫，審查後改掉</a:t>
            </a:r>
            <a:endParaRPr lang="en-US" sz="125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108/108 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無一例外本身有說服力；但相鄰層彼此相關，所以論文不引用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 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值的位數，只報計數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" y="40690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文獻比較必須先對齊「估計方式」，否則比的是估計方式，不是網路。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cli/Downloads/icml-claude/背景圖片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43891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發現三：訓練確實留下可量的痕跡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886968"/>
            <a:ext cx="1097280" cy="0"/>
          </a:xfrm>
          <a:prstGeom prst="line">
            <a:avLst/>
          </a:prstGeom>
          <a:noFill/>
          <a:ln w="38100">
            <a:solidFill>
              <a:srgbClr val="1F5C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同一個架構、未經訓練的版本，本身就有一條使用率曲線（來自架構與輸入統計）。訓練後的曲線與它不同嗎？</a:t>
            </a:r>
            <a:endParaRPr lang="en-US" sz="13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737360"/>
          <a:ext cx="6400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21945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架構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訓練後較高的層數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配對檢定（</a:t>
                      </a:r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Wilcoxon</a:t>
                      </a:r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ConvNeXt-T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17 / 22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 = 6.3×10⁻⁴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ResNet-50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44 / 53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 = 4.2×10⁻⁶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3108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這是文獻沒做過的對照。若兩者分不開，整篇的框架就要改成「這是架構的性質，不是學習的性質」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——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結果是分得開</a:t>
            </a:r>
            <a:endParaRPr lang="en-US" sz="125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但差異幅度不大（平均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+0.09 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到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+0.11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），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ConvNeXt 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的差異只有層間抖動的一半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——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論文會如實寫出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94360" y="40690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三個發現都用「逐層配對檢定」、用全部通過門檻的層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——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這是審查後改用的正確做法。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cli/Downloads/icml-claude/背景圖片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43891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誠實的自我審查：哪些說法站不住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886968"/>
            <a:ext cx="1097280" cy="0"/>
          </a:xfrm>
          <a:prstGeom prst="line">
            <a:avLst/>
          </a:prstGeom>
          <a:noFill/>
          <a:ln w="38100">
            <a:solidFill>
              <a:srgbClr val="1F5C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在投稿前，用</a:t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IEEE </a:t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審稿人的標準對第一輪結果做了一次敵意審查。結論：量測管線乾淨，但「曲線形狀」的主張全部不成立。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4023360" cy="109728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18288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① </a:t>
            </a:r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形狀檢定沒有檢力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221284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VGG-16 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只有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13 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層，「最後三分之一」是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4 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個點的相關係數（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 = 0.167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）。全篇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36 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個這類檢定、零多重比較校正，無一通過。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63440" y="1737360"/>
            <a:ext cx="4023360" cy="109728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00600" y="18288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② </a:t>
            </a:r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宣稱的效果小於自身抖動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00600" y="221284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VGG-16 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宣稱的「終端塌縮」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0.059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，比同一條曲線相鄰層的階差中位數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0.074 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還小。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2926080"/>
            <a:ext cx="4023360" cy="109728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30175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③</a:t>
            </a:r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「重現」是事後挑的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94360" y="340156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與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Garg 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對照前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8 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層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 = 0.97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，全部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13 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層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 = 0.13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；而且資料集不同。論文不再使用「重現」二字。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663440" y="2926080"/>
            <a:ext cx="4023360" cy="109728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00600" y="30175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④ n = 1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800600" y="340156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每個架構只有一組公開權重，沒有誤差棒。任何「形狀」主張在取得多組權重之前都不能寫。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41148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寧可自己先否掉，也不要被審稿人否掉。倖存的三個發現改用正確的檢定後仍然成立。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cli/Downloads/icml-claude/背景圖片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43891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文獻查證：「分母」這個觀察是新的嗎？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886968"/>
            <a:ext cx="1097280" cy="0"/>
          </a:xfrm>
          <a:prstGeom prst="line">
            <a:avLst/>
          </a:prstGeom>
          <a:noFill/>
          <a:ln w="38100">
            <a:solidFill>
              <a:srgbClr val="1F5C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審查提出的最大風險：發現一的秩上界在線性代數上很淺顯，可能早有人講過。今日查證結果：</a:t>
            </a:r>
            <a:endParaRPr lang="en-US" sz="13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017520"/>
                <a:gridCol w="28346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文獻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講了什麼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跟我們的差別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Han 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等人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, CVPR 2021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（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ReXNet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明講「輸出秩受輸入維度限制」，畫過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 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秩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/C 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 C_in/C_out 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的圖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隨機權重、當設計準則用；沒有拿它當量測的分母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Kim 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等人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, 2018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（預印本）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寫出一般卷積秩上界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 min(C_in·k², C_out)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為了壓縮模型；沒有量訓練後網路的逐層剖面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Bhojanapalli 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等人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, ICML 2020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Transformer 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注意力頭的同一種秩瓶頸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不同架構，同一個觀念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量測文獻（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Ansuini 2019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、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Elmoznino 2024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量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 block 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輸出而非卷積輸出，上界對它不成立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沒中招，但也沒有處理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——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這是我們可以講清楚的點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" y="38404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結論：上界本身不新，「拿它當量測分母、並在訓練後網路上證明假象消失」是我們的。論文措辭改為「文獻忽略了一個已知上界」。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cli/Downloads/icml-claude/背景圖片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43891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論文重新定位：從「曲線形狀」改為「量測協定」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886968"/>
            <a:ext cx="1097280" cy="0"/>
          </a:xfrm>
          <a:prstGeom prst="line">
            <a:avLst/>
          </a:prstGeom>
          <a:noFill/>
          <a:ln w="38100">
            <a:solidFill>
              <a:srgbClr val="1F5C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原本的標題、假設與結果章節都繞著曲線形狀寫，現在改以三個經得起檢定的主張為主軸：</a:t>
            </a:r>
            <a:endParaRPr lang="en-US" sz="13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743200"/>
                <a:gridCol w="23774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承重主張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證據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①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分母要用可達秩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 r_max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，不是名目寬度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 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 = 1.4×10⁻⁹ → 0.49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；受限層達上界的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 93%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強烈倖存（上界已知，用法是我們的）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②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全域平均池化一致壓低水準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108 / 108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層，無例外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強烈倖存（新穎性待查，下週）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③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訓練後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 ≠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隨機初始化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Wilcoxon p ~ 10⁻⁴ – 10⁻⁶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倖存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④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卷積輸出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 vs block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輸出不可比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今日查證直接掉出來的；待補一張對照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新增，待量測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03A2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曲線的形狀（駝峰／上升）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03A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36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03A2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個檢定無一通過校正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03A2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不倖存，從論文移除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" y="397764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新框架：「逐層有效寬度的三個量測陷阱，以及修正後的結果」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——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貢獻更小，但每一條都站得住。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cli/Downloads/icml-claude/背景圖片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43891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下一步、成本與時程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886968"/>
            <a:ext cx="1097280" cy="0"/>
          </a:xfrm>
          <a:prstGeom prst="line">
            <a:avLst/>
          </a:prstGeom>
          <a:noFill/>
          <a:ln w="38100">
            <a:solidFill>
              <a:srgbClr val="1F5C99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1371600"/>
                <a:gridCol w="13716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目的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成本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量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 16–20 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個公開權重（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timm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解決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 n = 1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；含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 6 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個不同配方的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 ResNet-50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，以及擴張比不同的架構（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MobileNetV2 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等）驗證分母修正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&lt; US$3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，約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 1 GPU-hour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清單與程式已備妥，待跑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驗證關卡：以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 CIFAR-10 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對照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 Garg 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的公開結果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管線至今沒有對任何已發表結果通過驗證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約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 US$4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腳本已寫，未跑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補「卷積輸出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 vs block 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輸出」對照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對應主張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 ④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併入上一趟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程式已加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池化主張的文獻新穎性查證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避免主張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 ② 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重演今天的事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（案頭工作）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下週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改寫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 §I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／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§II 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與標題、補摘要與結論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依新框架重寫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取得多組權重的分佈之後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4360" y="38404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總算力花費預估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&lt; US$10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。作者獨立作業，不需研究經費、不購置硬體，只租雲端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GPU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。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cli/Downloads/icml-claude/背景圖片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43891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投稿規劃與風險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886968"/>
            <a:ext cx="1097280" cy="0"/>
          </a:xfrm>
          <a:prstGeom prst="line">
            <a:avLst/>
          </a:prstGeom>
          <a:noFill/>
          <a:ln w="38100">
            <a:solidFill>
              <a:srgbClr val="1F5C9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4023360" cy="128016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0972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投稿目標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48132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IEEE 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中上程度期刊（目前草稿以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IEEE TNNLS 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格式撰寫），不投會議（不便出國）。期刊審稿週期長，以「主張少但每條站得住」為策略。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1005840"/>
            <a:ext cx="4023360" cy="128016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00600" y="10972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目前完成度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800600" y="148132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量測管線與測試完成；論文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§I–V 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有草稿；審查與文獻查證完成；引用已補。待：多組權重量測、驗證關卡、依新框架重寫。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風險與因應：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26974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審稿人認為貢獻太小（上界已知）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主軸改為「量測文獻全忽略了它、修正後假象消失」，明確引用先行文獻</a:t>
            </a:r>
            <a:endParaRPr lang="en-US" sz="115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池化主張也有先行文獻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下週查證；即使有，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108/108 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的配對比較仍沒人做過</a:t>
            </a:r>
            <a:endParaRPr lang="en-US" sz="115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多組權重量出來後主張變弱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如實報告分佈；這正是先量再投的原因</a:t>
            </a:r>
            <a:endParaRPr lang="en-US" sz="115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管線對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Garg 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的驗證不通過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停下來修管線，全部重跑（成本仍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&lt; US$5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）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41148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原則：不寫任何一句撐不過自己敵意審查的話。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cli/Downloads/icml-claude/背景圖片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43891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結語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886968"/>
            <a:ext cx="1097280" cy="0"/>
          </a:xfrm>
          <a:prstGeom prst="line">
            <a:avLst/>
          </a:prstGeom>
          <a:noFill/>
          <a:ln w="38100">
            <a:solidFill>
              <a:srgbClr val="1F5C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05156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問題：卷積網路每一層的寬度到底用掉多少？這是模型瘦身與邊緣部署前該先量準的量</a:t>
            </a:r>
            <a:endParaRPr lang="en-US" sz="145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做了：自建量測管線，在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4 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種架構、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108 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層、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萬張圖上完成第一輪，花費不到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1 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美元</a:t>
            </a:r>
            <a:endParaRPr lang="en-US" sz="145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發現：三個會讓量測失真的陷阱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——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分母、池化、量測點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——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並各自給出修正與證據</a:t>
            </a:r>
            <a:endParaRPr lang="en-US" sz="145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誠實：第一輪對「曲線形狀」的解讀經自我審查後撤回；論文改以量測協定為主軸</a:t>
            </a:r>
            <a:endParaRPr lang="en-US" sz="145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下一步：以不到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10 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美元的算力補齊多組權重與驗證關卡，再依新框架改寫投稿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40690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謝謝指教。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2026-09-03T05:52:00Z</dcterms:created>
  <dcterms:modified xsi:type="dcterms:W3CDTF">2026-09-03T05:52:00Z</dcterms:modified>
</cp:coreProperties>
</file>